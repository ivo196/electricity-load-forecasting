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acab790a654dc0" /><Relationship Type="http://schemas.openxmlformats.org/officeDocument/2006/relationships/extended-properties" Target="/docProps/app.xml" Id="R56812e2917c04bfa" /><Relationship Type="http://schemas.openxmlformats.org/officeDocument/2006/relationships/officeDocument" Target="/ppt/presentation.xml" Id="Rc8ce83691ee040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24a179eb044745"/>
  </p:sldMasterIdLst>
  <p:notesMasterIdLst>
    <p:notesMasterId xmlns:r="http://schemas.openxmlformats.org/officeDocument/2006/relationships" r:id="R6b37adca532043b7"/>
  </p:notesMasterIdLst>
  <p:sldIdLst>
    <p:sldId xmlns:r="http://schemas.openxmlformats.org/officeDocument/2006/relationships" id="256" r:id="R4a578e678f6d4482"/>
    <p:sldId xmlns:r="http://schemas.openxmlformats.org/officeDocument/2006/relationships" id="257" r:id="R3933ad61e4e74b01"/>
    <p:sldId xmlns:r="http://schemas.openxmlformats.org/officeDocument/2006/relationships" id="258" r:id="R41a041ba25b546d4"/>
    <p:sldId xmlns:r="http://schemas.openxmlformats.org/officeDocument/2006/relationships" id="259" r:id="R4af283eee9454bb7"/>
    <p:sldId xmlns:r="http://schemas.openxmlformats.org/officeDocument/2006/relationships" id="260" r:id="R41867277a7e74a32"/>
    <p:sldId xmlns:r="http://schemas.openxmlformats.org/officeDocument/2006/relationships" id="261" r:id="R00b64bf3a2ad46fe"/>
    <p:sldId xmlns:r="http://schemas.openxmlformats.org/officeDocument/2006/relationships" id="262" r:id="R737047749d044879"/>
    <p:sldId xmlns:r="http://schemas.openxmlformats.org/officeDocument/2006/relationships" id="263" r:id="R40e619a4322f42c2"/>
    <p:sldId xmlns:r="http://schemas.openxmlformats.org/officeDocument/2006/relationships" id="264" r:id="R3a0dbb3c6df54a0b"/>
    <p:sldId xmlns:r="http://schemas.openxmlformats.org/officeDocument/2006/relationships" id="265" r:id="R720a802ba5884b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4a179eb044745" /><Relationship Type="http://schemas.openxmlformats.org/officeDocument/2006/relationships/theme" Target="/ppt/theme/theme1.xml" Id="R7c5a8e88ac0a45ca" /><Relationship Type="http://schemas.openxmlformats.org/officeDocument/2006/relationships/notesMaster" Target="/ppt/notesMasters/notesMaster1.xml" Id="R6b37adca532043b7" /><Relationship Type="http://schemas.openxmlformats.org/officeDocument/2006/relationships/presProps" Target="/ppt/presProps.xml" Id="R6817837c00db4764" /><Relationship Type="http://schemas.openxmlformats.org/officeDocument/2006/relationships/viewProps" Target="/ppt/viewProps.xml" Id="Re50b846779794e14" /><Relationship Type="http://schemas.openxmlformats.org/officeDocument/2006/relationships/tableStyles" Target="/ppt/tableStyles.xml" Id="R34016fada7e44100" /><Relationship Type="http://schemas.openxmlformats.org/officeDocument/2006/relationships/slide" Target="/ppt/slides/slide1.xml" Id="R4a578e678f6d4482" /><Relationship Type="http://schemas.openxmlformats.org/officeDocument/2006/relationships/slide" Target="/ppt/slides/slide2.xml" Id="R3933ad61e4e74b01" /><Relationship Type="http://schemas.openxmlformats.org/officeDocument/2006/relationships/slide" Target="/ppt/slides/slide3.xml" Id="R41a041ba25b546d4" /><Relationship Type="http://schemas.openxmlformats.org/officeDocument/2006/relationships/slide" Target="/ppt/slides/slide4.xml" Id="R4af283eee9454bb7" /><Relationship Type="http://schemas.openxmlformats.org/officeDocument/2006/relationships/slide" Target="/ppt/slides/slide5.xml" Id="R41867277a7e74a32" /><Relationship Type="http://schemas.openxmlformats.org/officeDocument/2006/relationships/slide" Target="/ppt/slides/slide6.xml" Id="R00b64bf3a2ad46fe" /><Relationship Type="http://schemas.openxmlformats.org/officeDocument/2006/relationships/slide" Target="/ppt/slides/slide7.xml" Id="R737047749d044879" /><Relationship Type="http://schemas.openxmlformats.org/officeDocument/2006/relationships/slide" Target="/ppt/slides/slide8.xml" Id="R40e619a4322f42c2" /><Relationship Type="http://schemas.openxmlformats.org/officeDocument/2006/relationships/slide" Target="/ppt/slides/slide9.xml" Id="R3a0dbb3c6df54a0b" /><Relationship Type="http://schemas.openxmlformats.org/officeDocument/2006/relationships/slide" Target="/ppt/slides/slide10.xml" Id="R720a802ba5884b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3be767d5cc43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ee341469eb403a" /><Relationship Type="http://schemas.openxmlformats.org/officeDocument/2006/relationships/notesMaster" Target="/ppt/notesMasters/notesMaster1.xml" Id="R4cc361fa335a42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cd32e5769743f0" /><Relationship Type="http://schemas.openxmlformats.org/officeDocument/2006/relationships/notesMaster" Target="/ppt/notesMasters/notesMaster1.xml" Id="Rf107517ef58444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c9748d44d94d18" /><Relationship Type="http://schemas.openxmlformats.org/officeDocument/2006/relationships/notesMaster" Target="/ppt/notesMasters/notesMaster1.xml" Id="R08fa84ba131d46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9c17fae9984800" /><Relationship Type="http://schemas.openxmlformats.org/officeDocument/2006/relationships/notesMaster" Target="/ppt/notesMasters/notesMaster1.xml" Id="Rfd0928b9dff449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e6b4eb08e246a2" /><Relationship Type="http://schemas.openxmlformats.org/officeDocument/2006/relationships/notesMaster" Target="/ppt/notesMasters/notesMaster1.xml" Id="Rbf422a56ad29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60dfbcaaeb4d97" /><Relationship Type="http://schemas.openxmlformats.org/officeDocument/2006/relationships/notesMaster" Target="/ppt/notesMasters/notesMaster1.xml" Id="R9c41c26c59384c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6ecb8b454840eb" /><Relationship Type="http://schemas.openxmlformats.org/officeDocument/2006/relationships/notesMaster" Target="/ppt/notesMasters/notesMaster1.xml" Id="Re6d05c542bf645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43703323b1428a" /><Relationship Type="http://schemas.openxmlformats.org/officeDocument/2006/relationships/notesMaster" Target="/ppt/notesMasters/notesMaster1.xml" Id="R84773f4b4a7e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fdd17357af4bcc" /><Relationship Type="http://schemas.openxmlformats.org/officeDocument/2006/relationships/notesMaster" Target="/ppt/notesMasters/notesMaster1.xml" Id="R0717de104cf445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46be457b114a10" /><Relationship Type="http://schemas.openxmlformats.org/officeDocument/2006/relationships/notesMaster" Target="/ppt/notesMasters/notesMaster1.xml" Id="Rd7fd83bf717e44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134c406be46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30746a8771400b" /><Relationship Type="http://schemas.openxmlformats.org/officeDocument/2006/relationships/slideLayout" Target="/ppt/slideLayouts/slideLayout2.xml" Id="R2f507854ebe24a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507854ebe24a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a73d26f27c4411" /><Relationship Type="http://schemas.openxmlformats.org/officeDocument/2006/relationships/notesSlide" Target="/ppt/notesSlides/notesSlide1.xml" Id="Rd78bcb0cb29949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e0fe170d7c4d1c" /><Relationship Type="http://schemas.openxmlformats.org/officeDocument/2006/relationships/notesSlide" Target="/ppt/notesSlides/notesSlide2.xml" Id="Rc98a4c56af3a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fd7b5ca0ba4d09" /><Relationship Type="http://schemas.openxmlformats.org/officeDocument/2006/relationships/notesSlide" Target="/ppt/notesSlides/notesSlide3.xml" Id="Rd62e4c7948454f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2c69bc6484b3b" /><Relationship Type="http://schemas.openxmlformats.org/officeDocument/2006/relationships/notesSlide" Target="/ppt/notesSlides/notesSlide4.xml" Id="Re96a60d5727049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261bb2ae9e47dc" /><Relationship Type="http://schemas.openxmlformats.org/officeDocument/2006/relationships/notesSlide" Target="/ppt/notesSlides/notesSlide5.xml" Id="R8aedbd0d6a0249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755ec3fbaa4d14" /><Relationship Type="http://schemas.openxmlformats.org/officeDocument/2006/relationships/notesSlide" Target="/ppt/notesSlides/notesSlide6.xml" Id="R598e4e683aa645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de4afa02344ed" /><Relationship Type="http://schemas.openxmlformats.org/officeDocument/2006/relationships/notesSlide" Target="/ppt/notesSlides/notesSlide7.xml" Id="R31053a0e4e084e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7e0dac5a1415e" /><Relationship Type="http://schemas.openxmlformats.org/officeDocument/2006/relationships/notesSlide" Target="/ppt/notesSlides/notesSlide8.xml" Id="R72362228f25f49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8170dadbbc4cb7" /><Relationship Type="http://schemas.openxmlformats.org/officeDocument/2006/relationships/image" Target="/ppt/media/image.jpeg" Id="Re71c1451d68640a6" /><Relationship Type="http://schemas.openxmlformats.org/officeDocument/2006/relationships/notesSlide" Target="/ppt/notesSlides/notesSlide9.xml" Id="R1644542e36e242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acbc3baeb04527" /><Relationship Type="http://schemas.openxmlformats.org/officeDocument/2006/relationships/notesSlide" Target="/ppt/notesSlides/notesSlide10.xml" Id="R843b248c7dc040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6C4108-76AD-473C-A3C7-A6CD5B2C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4C4FD5-EFD9-4C48-A5F0-F3C89027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E5A96B-3229-4B9E-AF0B-42CFA5A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PROYECTO PARA ENTREVISTA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A3FC0-202E-4872-B6B1-D3FBED26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096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Electricity Load Forecasting: explicar el proyecto como un pipeline serio de series temporales.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17C7E-4587-499E-996B-81149A86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Predice demanda electrica horaria usando demanda historica, clima y calendario. La historia fuerte no es solo el LSTM: es split temporal, evitar leakage, baselines y comunicacion.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850CE-344D-419A-9C51-5AC0413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541C1-EEFE-44A7-9F30-E1C24A5C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168h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35E79-D758-43C4-B043-D42D78CC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Aptos"/>
                <a:ea typeface="Aptos"/>
                <a:cs typeface="Aptos"/>
              </a:rPr>
              <a:t>ventana de una semana para predecir la proxima 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0D653-03AB-4D9A-A37C-C86208FD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05958-1982-476F-8D1B-FAD8C38B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70/15/15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BFFBA-9B20-4B12-B0A8-68CFF715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0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Aptos"/>
                <a:ea typeface="Aptos"/>
                <a:cs typeface="Aptos"/>
              </a:rPr>
              <a:t>train, validation y test separados por tiempo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978D3-1CC6-44B6-A330-B029ADC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6C56D-8913-41C9-BE55-29CC204A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2.02%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DDAB2-9AAE-450D-8B5F-E5F206CC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Aptos"/>
                <a:ea typeface="Aptos"/>
                <a:cs typeface="Aptos"/>
              </a:rPr>
              <a:t>MAPE del mejor baseline actual: random forest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B9DA1-9F7C-4DB7-940D-813EF842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"/>
            <a:ext cx="28575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191F0-F21B-4E9E-A382-9CA8E825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3335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9525">
            <a:solidFill>
              <a:srgbClr val="17202A">
                <a:alpha val="14118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850CE-5C36-458A-8A17-177F15FE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4001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src/data.py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CEB64-F61E-4C4A-8C84-378A1D37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097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9525">
            <a:solidFill>
              <a:srgbClr val="17202A">
                <a:alpha val="14118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9A262-2299-4F60-AFFB-3D25BF9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7642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src/features.py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EF4C5-8B33-4EEA-892B-236B3BEE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860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9525">
            <a:solidFill>
              <a:srgbClr val="17202A">
                <a:alpha val="14118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081C5-0046-4C9E-864D-B2DF7DC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526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src/baselines.py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717C8-911C-4D22-B091-35726BA5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622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9525">
            <a:solidFill>
              <a:srgbClr val="17202A">
                <a:alpha val="14118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5A188-E3C8-41D6-B8B3-DD794BFF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2892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src/train.py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AC7F4-25D9-4D4D-A4E6-CE0E207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385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9525">
            <a:solidFill>
              <a:srgbClr val="17202A">
                <a:alpha val="14118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B07C1-C188-4451-8AFB-707F6828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051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src/evaluate.py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489E52-A243-457D-B2F8-E958284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147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9525">
            <a:solidFill>
              <a:srgbClr val="17202A">
                <a:alpha val="14118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9064EF-325A-4C9B-8E38-E8E59EF1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8142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app/streamlit_app.py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D477B-4312-4121-AD90-BDA955BB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9D39E6-CE9A-4884-B994-FB975FA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Fuente: README.md, src/*.py, reports/metrics.csv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E6866-959C-4E8C-A720-1C265796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79886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F405F4-00F1-4257-9559-B5BE090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27C778-D968-4D93-9BA3-6437CAFC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96BC2C-4A50-4F4C-BC5C-EC653431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POR QUE IMPORTA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2C602-5A8B-486A-9550-C434A0A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La demanda electrica cambia con patrones humanos, clima y calendario.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26226-ED2A-4E59-B2A9-23ABC5DE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rPr>
              <a:t>El objetivo de negocio: anticipar la carga para apoyar planificacion operativa, compra de energia y estabilidad de 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03983-7B4B-4221-8CDF-0911DA45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3CF85-ACEA-40AA-8514-ED7D6B6B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9092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nat_demand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C668F-7A3E-4C9A-AC2C-9CA39CBA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81450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target horario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46DFC-3519-4E8A-9AE8-7844505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51193-1A4B-4510-86DF-D9D9628F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00600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3886E-A02A-42C3-941D-6CAADDB9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481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FDC54-A706-4489-B165-B7B4905B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862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65B7E-C2D7-400A-9E20-BAA38FBB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D91A8-A166-4CFF-855C-AC83B8BF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Historia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C8AC1-56B3-40BE-9CA3-467107F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lags 1h, 24h, 168h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1D23C-1933-476A-A90C-1C5CD9BF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A7B8B-4AFB-491C-A6DC-FFBD43B9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62525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Clima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51E5E-9C07-4BD8-88AA-1CDA63A5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86375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temperatura, humedad, viento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6ADDB-DF27-40C1-99C1-B43268C1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0E18F-FD9C-46A5-BC03-6809B7E5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62525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Calendario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4FE2B-5649-4DE8-8E42-D87C6B78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86375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hora, semana, 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544AA-BC4A-4FDF-9246-FF8D639D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27CEC-E1B8-4994-95BD-7209711B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Operacion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9FE12-D2F8-42EE-AD71-C0D9AA05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feriados y escuela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D3066-364F-4056-9237-C2242D96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0CCDC-4A94-4349-AC7F-DC1833D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Lectura para entrevista: energia es un problema de forecasting operativo, no una demo academica.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7144E-05A3-4C5B-AF5E-EBA25EA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69935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022258-D39B-42BE-9D20-27F2DC7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84AFCC4-3718-4C7E-998B-15CECC24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230C87-9DBF-4A64-A895-964D9430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COMO FLUYE EL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955AD-4EE9-451E-B621-8182D5C6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7810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El proyecto va de CSV crudo a metricas y dashboard con pasos reproducibles.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511F1-6FE4-480E-B5A1-576B65AA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828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29351-70C0-4814-AF6E-C48C3DAF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1.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6AD2-DF39-4078-8087-BB378483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raw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64130-6865-4957-931F-15C2B237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continuous_dataset.csv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+ clima y flags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51BA5-DD2D-4310-BC49-8DBF3ECF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0375"/>
            <a:ext cx="1828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5CEB9-BB5A-4655-8EAF-8268AAD4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527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2.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8F3B0-8D20-4A14-B4C2-88EEFA81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src/features.py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36FF7-B627-4D9D-96B5-5217EAA4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senales ciclicas y ventanas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AC060-8805-437E-934D-10FF3414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1828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FEAB4-3BA3-4856-9730-1F15007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527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3. PREPARACION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AB99D-97B8-40B7-B037-7A459084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432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src/data.py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16DA4-1BCC-44BD-8189-267183C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433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split, scalers, loaders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8A578-5BCD-4ECC-BD36-1FCFF211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0375"/>
            <a:ext cx="1828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A8477-4A2F-49D9-9570-0D2F90EC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527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4. MODELOS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1ED9-C2D3-414B-970B-84273433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432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 / 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C6679-430C-4283-B84D-642D4E9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33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baselines + LSTM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AA5D0-C792-43DF-8650-1819EEDD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0375"/>
            <a:ext cx="1828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847B1-7E9F-4A3E-94D6-3366F63F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527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5. SALIDA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2CE58-7F11-4A16-B0B1-7108ECD9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432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reports +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3FC03-F3AA-406B-A679-0E0CDED2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433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metricas y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28EA5-5194-4422-8C56-D87A159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57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93ADF5-1C7C-4FB6-A5E0-AAC9C426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33775"/>
            <a:ext cx="15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4B552-24C9-4DDC-87E1-16D93FBD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9F60D2-A85E-426D-8908-F13D1256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33775"/>
            <a:ext cx="15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E30E4-7037-474E-97CE-E3D2BDB0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57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6D34E6-B714-4DF9-804C-DCCFAA5B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33775"/>
            <a:ext cx="15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D8DAFC-9161-4A5E-8F99-E12E711C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753C5C-42E4-406A-A0B9-2A03A9E7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33775"/>
            <a:ext cx="15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A30095-E063-4045-9D67-66E1BB0D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F3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5F3C"/>
                </a:solidFill>
                <a:latin typeface="Aptos"/>
                <a:ea typeface="Aptos"/>
                <a:cs typeface="Aptos"/>
              </a:rPr>
              <a:t>Mensaje clave: puedes navegar el codigo por responsabilidades, no como un notebook suelto.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35D9CB-4C37-4EAF-B2DC-5E79C803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Si te preguntan 'donde esta cada cosa', responde por capas: features, data prep, baselines, modelo, entrenamiento, evaluacion y dashboard.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C5D8F9-6FE0-46E8-AF5D-0F125D05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37B305-9240-4078-86C7-AFE850E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Archivos: src/features.py, src/data.py, src/baselines.py, src/train.py, src/evaluate.py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827B45-C57E-4B8E-9D37-BE4FE2AA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11055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EF3BFE-DCD0-4577-BE7B-7FA36EE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7F203FB-A6E4-4B6F-BE4D-00BD035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7BA7B5-64C1-44EE-8524-5940C95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LA PARTE QUE MAS DEBES DEFENDER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6DC2F-EFDA-4E4F-9ADB-7B2D0F5B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En series temporales, el split cronologico evita que el futuro contamine el pasado.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59407-BDC2-4D83-933C-1C63A940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673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092AC-EB51-4E2F-9A4F-73F38173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14382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D8DB5-64C0-4FEC-972E-C59F9DB0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051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DC0FA-5C34-4064-BDE3-EFDA7D06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5A455-05AD-4FC1-8D73-7B1D35B8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480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</a:t>
            </a:r>
          </a:p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01D4D-B2B5-4467-B043-651C0AB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582DD-3DB2-42EC-8F9E-9756BCAF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16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E716C"/>
                </a:solidFill>
                <a:latin typeface="Aptos Mono"/>
                <a:ea typeface="Aptos Mono"/>
                <a:cs typeface="Aptos Mono"/>
              </a:rPr>
              <a:t>2015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31C6B-43D2-4412-AF39-E1F21EBC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812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716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E716C"/>
                </a:solidFill>
                <a:latin typeface="Aptos Mono"/>
                <a:ea typeface="Aptos Mono"/>
                <a:cs typeface="Aptos Mono"/>
              </a:rPr>
              <a:t>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7E0EB-CAF6-47BF-8215-CC12A913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91508-7FD9-4E6A-88E9-918F92E6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3000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5B6F8-74F6-4447-BCC9-9FADD871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86275"/>
            <a:ext cx="2657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SCALER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39483-E4DB-473B-9B70-9B8743C9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76775"/>
            <a:ext cx="2657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fit solo con 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D7F2E-58C5-4ED5-B9FC-4D1055E2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76825"/>
            <a:ext cx="2657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Luego transforma validation y test sin aprender estadisticas futuras.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85C2A-7CE5-4F6B-988B-28BD90A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3000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F48A6-9ACC-4DBE-A010-599C0D4F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86275"/>
            <a:ext cx="2657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A89B3-929C-4AF0-9C7E-14FD7F1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76775"/>
            <a:ext cx="2657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 elige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0717C-EC1B-42BB-99E2-0C18B46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2657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El mejor checkpoint se guarda segun validation_loss.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8495F-CF8A-4E5A-8A75-9A4BD4F3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33875"/>
            <a:ext cx="3000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10766-2462-4547-8FE4-F32921E3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2657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CBA26-CB08-4AC3-86F8-058108EA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2657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 intacto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F0EB5-C7A1-4CC4-8295-48A25D17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76825"/>
            <a:ext cx="2657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El test representa futuro no visto para la evaluacion final.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D42AD-FB68-4C66-A718-B70DDD2F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C9E043-55C6-4DD7-ABB4-2B838386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Codigo: SplitConfig y prepare_data en src/data.py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9B524-56B6-4DDC-99CC-D89DE62F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52138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4F2B3-BCD9-4D79-8F75-B57FBD6D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878F43-E54E-4A8A-B9F3-4FE661C5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54FF20C-2531-4D22-8319-CDFC9B4E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216D3-342A-40AA-B4C9-16787C9B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Las features traducen hora, clima y operacion a senales que el modelo puede aprender.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BA2C9-D753-43C8-94D3-D1DB6FD2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74FCC-0A4B-4442-9BE5-4F8C42F7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Familia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91028-2347-4E89-9216-C05E297B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3590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Ejemplos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60875-28F6-41AE-9FF4-534001E5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286000"/>
            <a:ext cx="4067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Por que importa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BB771-78F0-4C99-BF52-9674AF85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17202A">
                <a:alpha val="862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E7806-7361-4DCB-909B-C9F1898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Demanda historica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1242E-8991-49AC-A269-7591CE3E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3590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6F8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F6F8F"/>
                </a:solidFill>
                <a:latin typeface="Aptos Mono"/>
                <a:ea typeface="Aptos Mono"/>
                <a:cs typeface="Aptos Mono"/>
              </a:rPr>
              <a:t>nat_demand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A8725-5C4D-4134-8717-2C582CD8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43200"/>
            <a:ext cx="4067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El pasado reciente suele ser el predictor mas fuerte.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96408-5AD9-4A7D-9447-656D3FBE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9525">
            <a:solidFill>
              <a:srgbClr val="17202A">
                <a:alpha val="8627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EF590-ADFB-4F8E-A619-589A2AFB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Clima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A59FF-9930-4085-A704-8D960E4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90900"/>
            <a:ext cx="3590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6F8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F6F8F"/>
                </a:solidFill>
                <a:latin typeface="Aptos Mono"/>
                <a:ea typeface="Aptos Mono"/>
                <a:cs typeface="Aptos Mono"/>
              </a:rPr>
              <a:t>T2M, QV2M, TQL, W2M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A6C45-0B03-46E2-A612-DBB54CA4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390900"/>
            <a:ext cx="4067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Temperatura, humedad, precipitacion y viento afectan consumo.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D604C-6607-47B9-8FF0-108668B7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17202A">
                <a:alpha val="862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13C2B-B8E3-4D18-A011-2D85A67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Calendario ciclico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EF9DB-60BF-489D-97BF-4337EA0C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3590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6F8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F6F8F"/>
                </a:solidFill>
                <a:latin typeface="Aptos Mono"/>
                <a:ea typeface="Aptos Mono"/>
                <a:cs typeface="Aptos Mono"/>
              </a:rPr>
              <a:t>hour_sin/cos, dayofweek_sin/cos, month_sin/cos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E13D0-0BC3-405F-9DA9-8B5E93F9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38600"/>
            <a:ext cx="4067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Evita tratar hora 23 y hora 0 como extremos lejanos.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A0CB3-493E-458E-B247-42660F3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9525">
            <a:solidFill>
              <a:srgbClr val="17202A">
                <a:alpha val="8627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8FD7C-D344-4EAB-9E79-38BDD977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Flags operativos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5B35F-5520-4375-A106-C0B943FE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86300"/>
            <a:ext cx="3590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6F8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F6F8F"/>
                </a:solidFill>
                <a:latin typeface="Aptos Mono"/>
                <a:ea typeface="Aptos Mono"/>
                <a:cs typeface="Aptos Mono"/>
              </a:rPr>
              <a:t>holiday, school, is_weekend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35049-4C33-41D3-A34D-BFCC16EB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86300"/>
            <a:ext cx="4067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Captura cambios de rutina en feriados, escuela y fines de semana.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E8098-5C4B-4B37-812E-9A18C4A0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F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F3C"/>
                </a:solidFill>
                <a:latin typeface="Aptos"/>
                <a:ea typeface="Aptos"/>
                <a:cs typeface="Aptos"/>
              </a:rPr>
              <a:t>Frase para entrevista: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A7F05-30F5-498C-98A5-76B587D0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6905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"No uso solo timestamp crudo: lo convierto en estructura ciclica y lo combino con clima, historia y flags operativos."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C89888-695D-414E-9453-65872B48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C34FB-876A-4DC4-A6A8-8B4E522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Codigo: DEFAULT_FEATURE_COLUMNS y add_time_features en src/features.py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646AD-A891-4094-B6C5-E7F73CB3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58975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D0BA3-5936-413E-94DE-AB036B0A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323C24A-6F51-4D3D-8537-FEE0BD84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4575AE-F93D-4CDD-B59E-81123A63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WINDOWING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BDC7C-61D6-4F00-A416-0B0B53AB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790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La serie se convierte en aprendizaje supervisado con una ventana de 168 horas.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C95FE-E2E2-456D-9600-5EE1ADF2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rPr>
              <a:t>Cada ejemplo toma una semana completa de historia y predice la siguiente hora.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095A9-F3C4-4AE4-B851-256F4AF4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66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34530-020E-4E39-B306-0BAA2E00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E7C02-26D2-45B7-8AE3-5398339C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A88BF-9373-4497-A19A-F09B6D37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33750"/>
            <a:ext cx="1066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3E6A9-C127-432D-8D91-004A4D12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62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08795-2DA5-4164-802A-0FF7FBDD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FFF33-F9DF-4243-8A95-420A59E1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33750"/>
            <a:ext cx="1066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ACA5D-5357-45AD-917B-3ED16A50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62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6282F-602B-4361-8594-0FE7FA06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862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F8873-0AA0-4DBE-968B-8F46724C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1066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49156-5355-4457-98E5-F16C38AD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8FD39-9E12-44F1-A2AE-E886A6DF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15646-EE9F-4421-B86C-E9280A2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1066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31A8E-BAEA-4575-A15E-0CBA11DF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62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49EF3-6C62-41B0-9C57-56C97DE9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862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DBD3E-2485-486F-B689-9A2C4BEA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1066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B65D0-BB67-4A3C-98ED-C538BCF2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 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31E8A-7E47-4BE8-B5DA-88655584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CC549-52E8-4D79-90E4-B7476904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1066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8796DA-81F4-4451-9081-B0198B1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 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917DA-C430-4DDF-8655-9ABA66A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C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8C8FA-99A3-4284-8CC3-6784000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10000"/>
            <a:ext cx="981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9FEB17-70F4-420D-97E0-A3538DB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576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F1BFE1-1301-4CBE-B45A-0EBD997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0"/>
            <a:ext cx="13811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62C27-6E9D-4B23-84C1-9512107D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390900"/>
            <a:ext cx="1038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 + 1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0E621B-D158-40A9-B12B-EA239636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714750"/>
            <a:ext cx="10382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demanda de la proxima hora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4E7421-D707-4197-9F12-F6B1D85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784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8A52C0-2F5F-41CA-87D4-77CC0A08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SHAPE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4BE73E-4529-47BA-98C9-488D7A96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X: [samples, 168, features]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C4B5F7-D54D-4B37-A2E1-080B8D6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2800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rPr>
              <a:t>La LSTM ve la secuencia completa.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3FB04C-5738-4F4A-9941-698BFAFC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784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A594C0-58EE-4378-AEEC-1296530A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C5D696-D184-4795-BB0C-14C124B7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006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y: demanda escalada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900F22-D9A1-4B78-BC68-35C03296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00700"/>
            <a:ext cx="2800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rPr>
              <a:t>Luego se invierte el scaler para reportar metricas reales.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7E82EB-89DA-4106-B882-45CF3A2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D635E3-CD61-471A-8F02-09CD40F0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Codigo: create_sequences en src/features.py y sequence_length=24*7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9A3A2F-9748-4488-8A02-EA3CCAE3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75868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360FF1-3BDB-493D-B68F-F2EA457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31EA54-D11D-46FC-A0D4-0EC3BE4A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BF0652-405D-49EC-AF0C-6CB4CA1F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41339-A49F-49F8-8427-E9718F7B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Los baselines muestran que el modelo avanzado tiene un liston real que superar.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8C691-37F1-4C06-A37D-6CEBF582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193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MAE menor es mejor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B6F35-80C6-465B-980F-FB1B65BB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98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D5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3F7D58"/>
                </a:solidFill>
                <a:latin typeface="Aptos Mono"/>
                <a:ea typeface="Aptos Mono"/>
                <a:cs typeface="Aptos Mono"/>
              </a:rPr>
              <a:t>random_forest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B2209-2690-4890-A98F-6671C481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882"/>
            </a:srgbClr>
          </a:solidFill>
          <a:ln xmlns:a="http://schemas.openxmlformats.org/drawingml/2006/main" w="9525">
            <a:solidFill>
              <a:srgbClr val="17202A">
                <a:alpha val="6275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6C68C-CF82-4221-8DD7-D4176F23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425BC-4B06-4840-B45B-63DCB367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64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23.96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93560-CAA9-4D43-B21D-D1A63E0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8194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C"/>
                </a:solidFill>
                <a:latin typeface="Aptos Mono"/>
                <a:ea typeface="Aptos Mono"/>
                <a:cs typeface="Aptos Mono"/>
              </a:rPr>
              <a:t>MAPE 2.02%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DE4AE-54A9-4552-BF21-DD5E997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28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linear_regression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44E24-6F2A-432F-A98A-B332A1E9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242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882"/>
            </a:srgbClr>
          </a:solidFill>
          <a:ln xmlns:a="http://schemas.openxmlformats.org/drawingml/2006/main" w="9525">
            <a:solidFill>
              <a:srgbClr val="17202A">
                <a:alpha val="6275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9ED3B-8BE9-43CF-926C-A178F348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24250"/>
            <a:ext cx="2543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2309A-961B-40D6-B6F5-6676F6D0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62350"/>
            <a:ext cx="64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29.68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72538-0C8C-4EB5-8210-367DAD2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5623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C"/>
                </a:solidFill>
                <a:latin typeface="Aptos Mono"/>
                <a:ea typeface="Aptos Mono"/>
                <a:cs typeface="Aptos Mono"/>
              </a:rPr>
              <a:t>MAPE 2.51%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F23D2-1DC7-4193-99CD-F0D3B81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seasonal_naive_previous_week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6DD45-1C64-4A3C-9845-5616A53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882"/>
            </a:srgbClr>
          </a:solidFill>
          <a:ln xmlns:a="http://schemas.openxmlformats.org/drawingml/2006/main" w="9525">
            <a:solidFill>
              <a:srgbClr val="17202A">
                <a:alpha val="6275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5311C-4EFD-4CEB-A074-36CAAB89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609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82D43-3C32-4052-9490-3234BE1D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05300"/>
            <a:ext cx="64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71.14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1BBD3-F5C0-4C97-A0AD-90FAC314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053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C"/>
                </a:solidFill>
                <a:latin typeface="Aptos Mono"/>
                <a:ea typeface="Aptos Mono"/>
                <a:cs typeface="Aptos Mono"/>
              </a:rPr>
              <a:t>MAPE 5.94%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71F74-0E95-43AB-A888-E4FEBFBC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387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naive_previous_day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781D0-EA8A-44D1-9C65-6345901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101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882"/>
            </a:srgbClr>
          </a:solidFill>
          <a:ln xmlns:a="http://schemas.openxmlformats.org/drawingml/2006/main" w="9525">
            <a:solidFill>
              <a:srgbClr val="17202A">
                <a:alpha val="6275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673FB-8D9D-4661-95A9-386EAC3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10150"/>
            <a:ext cx="628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08B46-3054-4184-AB91-532F1043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048250"/>
            <a:ext cx="64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73.33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F1478-47B7-47F9-A5FE-407DFB1A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0482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C"/>
                </a:solidFill>
                <a:latin typeface="Aptos Mono"/>
                <a:ea typeface="Aptos Mono"/>
                <a:cs typeface="Aptos Mono"/>
              </a:rPr>
              <a:t>MAPE 5.99%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E8CF2-5200-4947-9987-376C91ED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0685E-87FF-4841-B9B0-2E2DD26F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F7D58"/>
                </a:solidFill>
                <a:latin typeface="Aptos"/>
                <a:ea typeface="Aptos"/>
                <a:cs typeface="Aptos"/>
              </a:rPr>
              <a:t>Que decir: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39852B-2D84-4BB4-BB95-39A881F2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 es el mejor baseline actual; el LSTM debe demostrar que agrega valor.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EF92D9-3F87-45B3-A6E3-AB56FCF5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9D68D-E254-4370-A621-324FA8F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Metricas actuales desde reports/metrics.csv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B4821-67D3-4872-B92B-9A210C44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59473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92E97-D769-4136-BF71-C8B94FA7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C1C3E0-669A-40B8-8707-C5830BFA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1B1C2E-BB39-48F1-AF7C-47BA8D5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01B6A-34D0-4CC2-8E41-DAAB5BB7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La LSTM aprende patrones secuenciales, pero el reporte actual todavia no incluye su metrica.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C31B3-4799-486F-81DB-E9F90610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9C255-D8D0-4F3D-9BB9-5B19F770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52775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20F24-ACFA-4C87-9BE2-91B4609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168h x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6FCD2-DF4D-4D7B-AE5F-B3EA58D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0375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4487E-5EF3-4C48-B7CC-A3719592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52775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7A86F-A098-4DEA-ADA6-D7A90D41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7662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 layers, hidden=64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15C9B-ACEA-493F-9BD2-34B0F9F0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0375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C3CD7-1994-4CA6-8FE7-8DE4C3C8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52775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Last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9DED3-E0F3-47CC-9285-6408BF8B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ultima hora procesada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40010-C91B-461F-AEAF-2C46288A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02D2C-9767-4184-8A9F-CF163AD6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52775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Linear head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B6704-A98D-4F3C-BB5D-F7474F00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regresion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E3A44-B4DB-4EA3-B400-4C4B5271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00375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4DE1B-FD1E-4D2D-B85D-74F7413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52775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5622A-0B83-4F0E-BFE2-B634D98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7662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nat_demand t+1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8744C-086F-4E0F-BDBA-252F235B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433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D60FC-F254-4C5E-8BCB-15A3F7D5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19475"/>
            <a:ext cx="15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0DE86-C8BA-4B3F-A092-F6DD5F0D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433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D8A10-787A-4335-A0C2-17C5843B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19475"/>
            <a:ext cx="15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BF9B1-50DD-4422-AD17-F5945A6A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EA2D3-C45C-473D-8438-033995BE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19475"/>
            <a:ext cx="15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32F1B-597D-4D74-9446-39CBC210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433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3E5E76-FFFA-45B3-B5A7-9AD4EF14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19475"/>
            <a:ext cx="15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57412E-1777-429C-A08E-333B20DE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96234-31E3-438E-9D9D-45B6CEDF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0150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ENTRENAMIENTO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FEDDB-9CA7-43F0-8546-704F344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0065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Guarda el mejor checkpoint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81D076-2587-4DEC-A904-74C3398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00700"/>
            <a:ext cx="3657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rPr>
              <a:t>src/train.py selecciona por validation_loss.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0D130E-21CF-42FC-940C-189E641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5775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57597D-596B-4AE6-A7DE-98D022E8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1015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ESTADO HONESTO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A82A53-1C1C-432D-B6B2-09C5B8D8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00650"/>
            <a:ext cx="451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F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F3C"/>
                </a:solidFill>
                <a:latin typeface="Aptos"/>
                <a:ea typeface="Aptos"/>
                <a:cs typeface="Aptos"/>
              </a:rPr>
              <a:t>models/ esta vacio ahora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B46D77-F073-4EB6-9FF3-15E80631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00700"/>
            <a:ext cx="451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Ejecutar train + evaluate agrega la fila lstm a reports/metrics.csv.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CCC685-55F2-41A8-8214-E06D8F1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4EB89-616E-4BB9-8513-8B32980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Codigo: LSTMForecast en src/models.py, entrenamiento en src/train.py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A79F15-029E-4C64-A215-8CA9AB3F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65605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BC892-6DD3-4291-8F9F-9BA1F42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19838E-A6C4-49C3-99C4-84CC8418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0D9076B-A925-43DE-BB08-2D579BBB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EVALUACION Y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3D6C7-0C1D-47E7-BDEB-D4BA0821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7524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Las metricas y el dashboard convierten el modelo en una historia explicable.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c1451d68640a6"/>
          <a:stretch xmlns:a="http://schemas.openxmlformats.org/drawingml/2006/main"/>
        </p:blipFill>
        <p:spPr>
          <a:xfrm xmlns:a="http://schemas.openxmlformats.org/drawingml/2006/main">
            <a:off x="923925" y="238125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08513-93F9-41E2-9B2F-442A0D39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295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4AC16-9654-41A6-A9C9-02324AC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533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D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F7D58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E1B51-C0D4-4D55-BF21-52A4D9F2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8575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Error absoluto promedio en unidades de demanda.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A82FA-5638-482B-8C57-FFBDF3A3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09950"/>
            <a:ext cx="295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223F0-18DE-4CC3-B8E5-E50F95E8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623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D70D4-6BD9-4B17-9FCD-C6285D90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862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Penaliza mas los errores grandes.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3E953-D869-4416-9D88-74B7BCB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38650"/>
            <a:ext cx="295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2C6E6-A19A-45B1-9377-10B13756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910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F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F3C"/>
                </a:solidFill>
                <a:latin typeface="Aptos"/>
                <a:ea typeface="Aptos"/>
                <a:cs typeface="Aptos"/>
              </a:rPr>
              <a:t>MAPE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E4DBC-80D0-4F72-8611-D4E4D99B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9149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Comunica el error en porcentaje.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D1EE4-8667-48CA-9053-2B7A2DA9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5435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A9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A93D"/>
                </a:solidFill>
                <a:latin typeface="Aptos"/>
                <a:ea typeface="Aptos"/>
                <a:cs typeface="Aptos"/>
              </a:rPr>
              <a:t>Guion: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FBE4B-1CD9-42FD-BEAB-7B4986D7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772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3EA">
                    <a:alpha val="80000"/>
                  </a:srgbClr>
                </a:solidFill>
                <a:latin typeface="Aptos"/>
                <a:ea typeface="Aptos"/>
                <a:cs typeface="Aptos"/>
              </a:rPr>
              <a:t>Uso MAE/RMSE/MAPE porque cada una responde una pregunta distinta del error.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92B58-3EDB-407E-9F2E-1EC1085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C236B-C54E-4B30-B3F9-685FC7A1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Archivos: reports/metrics.csv, reports/figures/dashboard_preview.png, app/streamlit_app.py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0F0B2-E8FB-4EA7-A430-06395C3D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3E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59386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B60F4-C542-4012-A453-46C6C22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9D4706D-714A-4C69-B45F-DEA42FA3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6B720A-DDCE-4952-8796-79521552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DEFENSA PARA ENTREVISTA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CDBB5-AF99-43F1-AFC8-AD30824C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Si dudas, vuelve a cuatro ideas: tiempo, leakage, baselines y siguientes pasos.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4A1F9-2384-4AAB-A4E5-288334D4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648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6801B-150E-4E92-A226-97B46EEB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1775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PREGUNTA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A3E3B-8AFF-41D7-B187-488004B3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Por que no random split?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451F5-894C-47B5-8759-642C8E06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430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Porque mezclaria pasado y futuro. El test debe parecer futuro real.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75461-8799-44F4-AE33-1300D75E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19375"/>
            <a:ext cx="4648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2E4BE-C969-4167-9D75-1692EB50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71775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PREGUNTA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2EA82-84E2-4BED-B7E9-4E4D973F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Por que baselines?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450D5-7E1F-4242-8976-0B68AF0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430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Para saber si un modelo avanzado realmente agrega valor.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63404-38F7-48AD-9AD6-A85E417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648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7C3E7-1D8C-40DB-B122-D02FA058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PREGUNTA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2CB55-6254-404C-AF9A-297D7733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Por que 168 horas?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78284-0B02-455A-A831-580A37ED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430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Una semana captura patrones diarios y semanales.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59D29-84C4-4E59-9442-2AB7EFE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648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92AB7-CC98-4CE9-9E17-18F88112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16C"/>
                </a:solidFill>
                <a:latin typeface="Aptos"/>
                <a:ea typeface="Aptos"/>
                <a:cs typeface="Aptos"/>
              </a:rPr>
              <a:t>PREGUNTA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65E3F-E2EE-4242-9500-C39D13F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Que falta mejorar?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8FC77-4317-44D7-91F7-EE590F4A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30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Entrenar LSTM, forecast 24h, walk-forward y analisis de residuos.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64CA1-7D7C-40BA-BDCE-8AE42D98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3DC61-DA70-40FC-9161-7D25078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Cierre recomendado: "El valor del proyecto esta en el pipeline completo, no solo en el modelo."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4F522-EBA5-47F1-BB00-7563329D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9D319-7AAB-4070-9E80-EE1B4CC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La guia completa de preguntas esta en reports/interview_prep/guia_entrevista_forecasting.md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86EDF-62F9-4A55-A357-CE188DE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>
                    <a:alpha val="66667"/>
                  </a:srgbClr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839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2026-05-18T19:04:03.9930000Z</dcterms:created>
  <dcterms:modified xsi:type="dcterms:W3CDTF">2026-05-18T19:04:03.9930000Z</dcterms:modified>
</coreProperties>
</file>